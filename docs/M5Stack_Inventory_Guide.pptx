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8cadd55b6e477e" /><Relationship Type="http://schemas.openxmlformats.org/officeDocument/2006/relationships/extended-properties" Target="/docProps/app.xml" Id="R7712c8f155504e44" /><Relationship Type="http://schemas.openxmlformats.org/officeDocument/2006/relationships/officeDocument" Target="/ppt/presentation.xml" Id="Rf02bf1c7214645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2d320eae134707"/>
  </p:sldMasterIdLst>
  <p:notesMasterIdLst>
    <p:notesMasterId xmlns:r="http://schemas.openxmlformats.org/officeDocument/2006/relationships" r:id="R3f7f307f8007498c"/>
  </p:notesMasterIdLst>
  <p:sldIdLst>
    <p:sldId xmlns:r="http://schemas.openxmlformats.org/officeDocument/2006/relationships" id="256" r:id="R8f02b3987b9f49b5"/>
    <p:sldId xmlns:r="http://schemas.openxmlformats.org/officeDocument/2006/relationships" id="257" r:id="Rc8b31907ddae4ebb"/>
    <p:sldId xmlns:r="http://schemas.openxmlformats.org/officeDocument/2006/relationships" id="258" r:id="Re2b67cd88e124dda"/>
    <p:sldId xmlns:r="http://schemas.openxmlformats.org/officeDocument/2006/relationships" id="259" r:id="Rc0742b45888647ad"/>
    <p:sldId xmlns:r="http://schemas.openxmlformats.org/officeDocument/2006/relationships" id="260" r:id="R0c64e08fa3e8491d"/>
    <p:sldId xmlns:r="http://schemas.openxmlformats.org/officeDocument/2006/relationships" id="261" r:id="R85c33eacefd5414a"/>
    <p:sldId xmlns:r="http://schemas.openxmlformats.org/officeDocument/2006/relationships" id="262" r:id="R75935d82cdf946cb"/>
    <p:sldId xmlns:r="http://schemas.openxmlformats.org/officeDocument/2006/relationships" id="263" r:id="R86814960e1c844b3"/>
    <p:sldId xmlns:r="http://schemas.openxmlformats.org/officeDocument/2006/relationships" id="264" r:id="R6f82c97531eb431c"/>
    <p:sldId xmlns:r="http://schemas.openxmlformats.org/officeDocument/2006/relationships" id="265" r:id="R3af77bb141d34796"/>
    <p:sldId xmlns:r="http://schemas.openxmlformats.org/officeDocument/2006/relationships" id="266" r:id="R1fd170cefec34207"/>
    <p:sldId xmlns:r="http://schemas.openxmlformats.org/officeDocument/2006/relationships" id="267" r:id="R8b394947e4044068"/>
    <p:sldId xmlns:r="http://schemas.openxmlformats.org/officeDocument/2006/relationships" id="268" r:id="R4253315873de459b"/>
    <p:sldId xmlns:r="http://schemas.openxmlformats.org/officeDocument/2006/relationships" id="269" r:id="R2cfe849de7f740f4"/>
    <p:sldId xmlns:r="http://schemas.openxmlformats.org/officeDocument/2006/relationships" id="270" r:id="R70cfa67305204eb7"/>
    <p:sldId xmlns:r="http://schemas.openxmlformats.org/officeDocument/2006/relationships" id="271" r:id="Re5136dcc8d2449c3"/>
    <p:sldId xmlns:r="http://schemas.openxmlformats.org/officeDocument/2006/relationships" id="272" r:id="Raac81a93f9824921"/>
    <p:sldId xmlns:r="http://schemas.openxmlformats.org/officeDocument/2006/relationships" id="273" r:id="Rabfe7b63755e4980"/>
    <p:sldId xmlns:r="http://schemas.openxmlformats.org/officeDocument/2006/relationships" id="274" r:id="R1ee7541fd6ec4722"/>
    <p:sldId xmlns:r="http://schemas.openxmlformats.org/officeDocument/2006/relationships" id="275" r:id="R6d190955e3bc4720"/>
    <p:sldId xmlns:r="http://schemas.openxmlformats.org/officeDocument/2006/relationships" id="276" r:id="Rfbe8211efeb44a70"/>
    <p:sldId xmlns:r="http://schemas.openxmlformats.org/officeDocument/2006/relationships" id="277" r:id="Rd6ef078fbf5e48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4a34f19a6341de" /><Relationship Type="http://schemas.openxmlformats.org/officeDocument/2006/relationships/slideMaster" Target="/ppt/slideMasters/slideMaster1.xml" Id="R252d320eae134707" /><Relationship Type="http://schemas.openxmlformats.org/officeDocument/2006/relationships/notesMaster" Target="/ppt/notesMasters/notesMaster1.xml" Id="R3f7f307f8007498c" /><Relationship Type="http://schemas.openxmlformats.org/officeDocument/2006/relationships/presProps" Target="/ppt/presProps.xml" Id="Rb9c5cf0c29284f3f" /><Relationship Type="http://schemas.openxmlformats.org/officeDocument/2006/relationships/tableStyles" Target="/ppt/tableStyles.xml" Id="R3313c24264354bea" /><Relationship Type="http://schemas.openxmlformats.org/officeDocument/2006/relationships/slide" Target="/ppt/slides/slide1.xml" Id="R8f02b3987b9f49b5" /><Relationship Type="http://schemas.openxmlformats.org/officeDocument/2006/relationships/slide" Target="/ppt/slides/slide2.xml" Id="Rc8b31907ddae4ebb" /><Relationship Type="http://schemas.openxmlformats.org/officeDocument/2006/relationships/slide" Target="/ppt/slides/slide3.xml" Id="Re2b67cd88e124dda" /><Relationship Type="http://schemas.openxmlformats.org/officeDocument/2006/relationships/slide" Target="/ppt/slides/slide4.xml" Id="Rc0742b45888647ad" /><Relationship Type="http://schemas.openxmlformats.org/officeDocument/2006/relationships/slide" Target="/ppt/slides/slide5.xml" Id="R0c64e08fa3e8491d" /><Relationship Type="http://schemas.openxmlformats.org/officeDocument/2006/relationships/slide" Target="/ppt/slides/slide6.xml" Id="R85c33eacefd5414a" /><Relationship Type="http://schemas.openxmlformats.org/officeDocument/2006/relationships/slide" Target="/ppt/slides/slide7.xml" Id="R75935d82cdf946cb" /><Relationship Type="http://schemas.openxmlformats.org/officeDocument/2006/relationships/slide" Target="/ppt/slides/slide8.xml" Id="R86814960e1c844b3" /><Relationship Type="http://schemas.openxmlformats.org/officeDocument/2006/relationships/slide" Target="/ppt/slides/slide9.xml" Id="R6f82c97531eb431c" /><Relationship Type="http://schemas.openxmlformats.org/officeDocument/2006/relationships/slide" Target="/ppt/slides/slide10.xml" Id="R3af77bb141d34796" /><Relationship Type="http://schemas.openxmlformats.org/officeDocument/2006/relationships/slide" Target="/ppt/slides/slide11.xml" Id="R1fd170cefec34207" /><Relationship Type="http://schemas.openxmlformats.org/officeDocument/2006/relationships/slide" Target="/ppt/slides/slide12.xml" Id="R8b394947e4044068" /><Relationship Type="http://schemas.openxmlformats.org/officeDocument/2006/relationships/slide" Target="/ppt/slides/slide13.xml" Id="R4253315873de459b" /><Relationship Type="http://schemas.openxmlformats.org/officeDocument/2006/relationships/slide" Target="/ppt/slides/slide14.xml" Id="R2cfe849de7f740f4" /><Relationship Type="http://schemas.openxmlformats.org/officeDocument/2006/relationships/slide" Target="/ppt/slides/slide15.xml" Id="R70cfa67305204eb7" /><Relationship Type="http://schemas.openxmlformats.org/officeDocument/2006/relationships/slide" Target="/ppt/slides/slide16.xml" Id="Re5136dcc8d2449c3" /><Relationship Type="http://schemas.openxmlformats.org/officeDocument/2006/relationships/slide" Target="/ppt/slides/slide17.xml" Id="Raac81a93f9824921" /><Relationship Type="http://schemas.openxmlformats.org/officeDocument/2006/relationships/slide" Target="/ppt/slides/slide18.xml" Id="Rabfe7b63755e4980" /><Relationship Type="http://schemas.openxmlformats.org/officeDocument/2006/relationships/slide" Target="/ppt/slides/slide19.xml" Id="R1ee7541fd6ec4722" /><Relationship Type="http://schemas.openxmlformats.org/officeDocument/2006/relationships/slide" Target="/ppt/slides/slide20.xml" Id="R6d190955e3bc4720" /><Relationship Type="http://schemas.openxmlformats.org/officeDocument/2006/relationships/slide" Target="/ppt/slides/slide21.xml" Id="Rfbe8211efeb44a70" /><Relationship Type="http://schemas.openxmlformats.org/officeDocument/2006/relationships/slide" Target="/ppt/slides/slide22.xml" Id="Rd6ef078fbf5e48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4cae18039744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8a8986f6a74b76" /><Relationship Type="http://schemas.openxmlformats.org/officeDocument/2006/relationships/notesMaster" Target="/ppt/notesMasters/notesMaster1.xml" Id="R58ef5939ffc845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b40098edd54c03" /><Relationship Type="http://schemas.openxmlformats.org/officeDocument/2006/relationships/notesMaster" Target="/ppt/notesMasters/notesMaster1.xml" Id="R8ba4657710bf42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e5903863be4343" /><Relationship Type="http://schemas.openxmlformats.org/officeDocument/2006/relationships/notesMaster" Target="/ppt/notesMasters/notesMaster1.xml" Id="Re2214470e8644c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d0b71c8cf74247" /><Relationship Type="http://schemas.openxmlformats.org/officeDocument/2006/relationships/notesMaster" Target="/ppt/notesMasters/notesMaster1.xml" Id="R48cb5b44546742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e3e3cb46ff4bbf" /><Relationship Type="http://schemas.openxmlformats.org/officeDocument/2006/relationships/notesMaster" Target="/ppt/notesMasters/notesMaster1.xml" Id="R18e5138d59c14c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6a05fc81944715" /><Relationship Type="http://schemas.openxmlformats.org/officeDocument/2006/relationships/notesMaster" Target="/ppt/notesMasters/notesMaster1.xml" Id="R4af82122a9c94d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2955264caa434f" /><Relationship Type="http://schemas.openxmlformats.org/officeDocument/2006/relationships/notesMaster" Target="/ppt/notesMasters/notesMaster1.xml" Id="R69c30fef1f7346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fe654e70e5475e" /><Relationship Type="http://schemas.openxmlformats.org/officeDocument/2006/relationships/notesMaster" Target="/ppt/notesMasters/notesMaster1.xml" Id="Rdcfbe110630346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4f421859c0c45f6" /><Relationship Type="http://schemas.openxmlformats.org/officeDocument/2006/relationships/notesMaster" Target="/ppt/notesMasters/notesMaster1.xml" Id="R44391c028a5c47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182052a31b4899" /><Relationship Type="http://schemas.openxmlformats.org/officeDocument/2006/relationships/notesMaster" Target="/ppt/notesMasters/notesMaster1.xml" Id="R0cf2589b621e41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05aa4214974ae9" /><Relationship Type="http://schemas.openxmlformats.org/officeDocument/2006/relationships/notesMaster" Target="/ppt/notesMasters/notesMaster1.xml" Id="R667ad75c09fb45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704a42f3774683" /><Relationship Type="http://schemas.openxmlformats.org/officeDocument/2006/relationships/notesMaster" Target="/ppt/notesMasters/notesMaster1.xml" Id="R5580378504bf41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173d73ab534b21" /><Relationship Type="http://schemas.openxmlformats.org/officeDocument/2006/relationships/notesMaster" Target="/ppt/notesMasters/notesMaster1.xml" Id="R545385e9d5614f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eb8b1625eb4c80" /><Relationship Type="http://schemas.openxmlformats.org/officeDocument/2006/relationships/notesMaster" Target="/ppt/notesMasters/notesMaster1.xml" Id="Re800e19226174e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160edc1cc94f7e" /><Relationship Type="http://schemas.openxmlformats.org/officeDocument/2006/relationships/notesMaster" Target="/ppt/notesMasters/notesMaster1.xml" Id="R03b8ca9540d540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4cf751d8674435" /><Relationship Type="http://schemas.openxmlformats.org/officeDocument/2006/relationships/notesMaster" Target="/ppt/notesMasters/notesMaster1.xml" Id="R1457b0e917654ff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76fc45bf7a40df" /><Relationship Type="http://schemas.openxmlformats.org/officeDocument/2006/relationships/notesMaster" Target="/ppt/notesMasters/notesMaster1.xml" Id="R2de3845ad7a74a9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ddd71ffa7d4eb2" /><Relationship Type="http://schemas.openxmlformats.org/officeDocument/2006/relationships/notesMaster" Target="/ppt/notesMasters/notesMaster1.xml" Id="Ra49095f6ff914e9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302347d471d4358" /><Relationship Type="http://schemas.openxmlformats.org/officeDocument/2006/relationships/notesMaster" Target="/ppt/notesMasters/notesMaster1.xml" Id="R2058fc4d7cee470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256e572c9e84b1f" /><Relationship Type="http://schemas.openxmlformats.org/officeDocument/2006/relationships/notesMaster" Target="/ppt/notesMasters/notesMaster1.xml" Id="R0475d65622ad49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f7917aaf3fb40f5" /><Relationship Type="http://schemas.openxmlformats.org/officeDocument/2006/relationships/notesMaster" Target="/ppt/notesMasters/notesMaster1.xml" Id="Rd0243148758e4da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11c8134d9eb4052" /><Relationship Type="http://schemas.openxmlformats.org/officeDocument/2006/relationships/notesMaster" Target="/ppt/notesMasters/notesMaster1.xml" Id="Re3d6f83687f043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reproducible technical guide for IoT and Web engineers.</a:t>
            </a:r>
          </a:p>
          <a:p xmlns:a="http://schemas.openxmlformats.org/drawingml/2006/main">
            <a:r>
              <a:t>Hardware images: project assets and the official M5Stack StickS3 overview image.</a:t>
            </a:r>
          </a:p>
          <a:p xmlns:a="http://schemas.openxmlformats.org/drawingml/2006/main">
            <a:r>
              <a:t>Official references: https://docs.m5stack.com/en/core/AtomS3 ; https://docs.m5stack.com/en/core/StickS3 ;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docs/decisions.md and docs/protocol.md.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AtomS3: https://docs.m5stack.com/en/core/AtomS3</a:t>
            </a:r>
          </a:p>
          <a:p xmlns:a="http://schemas.openxmlformats.org/drawingml/2006/main">
            <a:r>
              <a:t>Official StickS3: https://docs.m5stack.com/en/core/StickS3</a:t>
            </a:r>
          </a:p>
          <a:p xmlns:a="http://schemas.openxmlformats.org/drawingml/2006/main">
            <a:r>
              <a:t>Official Unit QRCode: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1.</a:t>
            </a:r>
          </a:p>
          <a:p xmlns:a="http://schemas.openxmlformats.org/drawingml/2006/main">
            <a:r>
              <a:t>Official I2C sample: https://github.com/m5stack/M5Unit-QRCode/tree/main/example/i2c_mode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 and firmware display captures under docs/assets/display.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3.</a:t>
            </a:r>
          </a:p>
          <a:p xmlns:a="http://schemas.openxmlformats.org/drawingml/2006/main">
            <a:r>
              <a:t>Display captures generated from the current M5GFX firmware UI.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project-owned Google Sheets Inventory view, captured 2026-09-20.</a:t>
            </a:r>
          </a:p>
          <a:p xmlns:a="http://schemas.openxmlformats.org/drawingml/2006/main">
            <a:r>
              <a:t>Project source: docs/setup.md section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docs/protocol.md and docs/setup.md section 2.</a:t>
            </a:r>
          </a:p>
          <a:p xmlns:a="http://schemas.openxmlformats.org/drawingml/2006/main">
            <a:r>
              <a:t>M5Stack SKU metadata is fetched only after device-key verification. Non-M5Stack and failed lookups remain editable in ProductMaster.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4 and docs/protocol.md.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 and docs/setup.md sections 3 and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docs/protocol.md.</a:t>
            </a:r>
          </a:p>
          <a:p xmlns:a="http://schemas.openxmlformats.org/drawingml/2006/main">
            <a:r>
              <a:t>Google ContentService redirects to a one-time script.googleusercontent.com URL: https://developers.google.com/apps-script/guides/content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1 and 2.</a:t>
            </a:r>
          </a:p>
          <a:p xmlns:a="http://schemas.openxmlformats.org/drawingml/2006/main">
            <a:r>
              <a:t>Google Apps Script overview: https://developers.google.com/apps-script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3 and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OpenSSL rand uses a CSPRNG: https://docs.openssl.org/3.0/man1/openssl-rand/</a:t>
            </a:r>
          </a:p>
          <a:p xmlns:a="http://schemas.openxmlformats.org/drawingml/2006/main">
            <a:r>
              <a:t>Windows PowerShell uses System.Security.Cryptography.RandomNumberGenerator, available in .NET Framework: https://learn.microsoft.com/dotnet/api/system.security.cryptography.randomnumbergenerator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DEVICE_KEY is user-generated shared secret; do not publish the real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5.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 and platformio/include/secrets.example.h.</a:t>
            </a:r>
          </a:p>
          <a:p xmlns:a="http://schemas.openxmlformats.org/drawingml/2006/main">
            <a:r>
              <a:t>Do not expose real credentials, Wi-Fi passwords, deployment URLs, device keys, or certificate bundles in public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6.1.</a:t>
            </a:r>
          </a:p>
          <a:p xmlns:a="http://schemas.openxmlformats.org/drawingml/2006/main">
            <a:r>
              <a:t>Google Trust Services repository: https://pki.goog/repository/</a:t>
            </a:r>
          </a:p>
          <a:p xmlns:a="http://schemas.openxmlformats.org/drawingml/2006/main">
            <a:r>
              <a:t>Do not treat the leaf or an intermediate presented by the server as a permanent trust anchor.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platformio/platformio.ini and docs/apps-script-setup.md sections 6.2 and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tests/ingest.test.cjs, docs/setup.md section 6, and docs/apps-script-setup.md section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sections 4-6, docs/apps-script-setup.md sections 8-9, and docs/reproduction-checklist.md.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and 01_開発・ソース/firmware/include/InventoryDisplay.h.</a:t>
            </a:r>
          </a:p>
          <a:p xmlns:a="http://schemas.openxmlformats.org/drawingml/2006/main">
            <a:r>
              <a:t>Screen captures: production M5GFX drawing rendered by the SDL simulator at 135 x 240 pixels. Battery 82% is a sample.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9bf56ae3649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d3eae0aa5c4b3a" /><Relationship Type="http://schemas.openxmlformats.org/officeDocument/2006/relationships/slideLayout" Target="/ppt/slideLayouts/slideLayout1.xml" Id="R80c3f375e38648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c3f375e38648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4d39a15e24b98" /><Relationship Type="http://schemas.openxmlformats.org/officeDocument/2006/relationships/image" Target="/ppt/media/image.png" Id="R8c53599abcf14e13" /><Relationship Type="http://schemas.openxmlformats.org/officeDocument/2006/relationships/image" Target="/ppt/media/image2.png" Id="R3e35bd8d860848ca" /><Relationship Type="http://schemas.openxmlformats.org/officeDocument/2006/relationships/image" Target="/ppt/media/image3.png" Id="R9873c12337a344ff" /><Relationship Type="http://schemas.openxmlformats.org/officeDocument/2006/relationships/notesSlide" Target="/ppt/notesSlides/notesSlide1.xml" Id="Re7884ea613ab4b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b770b971746b9" /><Relationship Type="http://schemas.openxmlformats.org/officeDocument/2006/relationships/image" Target="/ppt/media/image4.png" Id="Rd91d6daa84c54d3d" /><Relationship Type="http://schemas.openxmlformats.org/officeDocument/2006/relationships/image" Target="/ppt/media/image5.png" Id="Re382f4b4a91b4cc2" /><Relationship Type="http://schemas.openxmlformats.org/officeDocument/2006/relationships/image" Target="/ppt/media/image6.png" Id="R0dea2dac07164826" /><Relationship Type="http://schemas.openxmlformats.org/officeDocument/2006/relationships/notesSlide" Target="/ppt/notesSlides/notesSlide2.xml" Id="Reb31f2d56df84d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58c8b83b24262" /><Relationship Type="http://schemas.openxmlformats.org/officeDocument/2006/relationships/image" Target="/ppt/media/image7.png" Id="R9bdd0e9b0a954558" /><Relationship Type="http://schemas.openxmlformats.org/officeDocument/2006/relationships/image" Target="/ppt/media/image8.png" Id="Re95ed8415369426a" /><Relationship Type="http://schemas.openxmlformats.org/officeDocument/2006/relationships/image" Target="/ppt/media/image9.png" Id="Re42561ea9ffe4ffd" /><Relationship Type="http://schemas.openxmlformats.org/officeDocument/2006/relationships/notesSlide" Target="/ppt/notesSlides/notesSlide3.xml" Id="Rdd8e63b70e5d4f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dd4abc6b7435a" /><Relationship Type="http://schemas.openxmlformats.org/officeDocument/2006/relationships/image" Target="/ppt/media/image10.png" Id="R4c952df24e084c8e" /><Relationship Type="http://schemas.openxmlformats.org/officeDocument/2006/relationships/image" Target="/ppt/media/image11.png" Id="R8ba3b8df8887484f" /><Relationship Type="http://schemas.openxmlformats.org/officeDocument/2006/relationships/image" Target="/ppt/media/image12.png" Id="R9e4001d3328243c8" /><Relationship Type="http://schemas.openxmlformats.org/officeDocument/2006/relationships/notesSlide" Target="/ppt/notesSlides/notesSlide4.xml" Id="R623f74a6501640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836e18fa14ec3" /><Relationship Type="http://schemas.openxmlformats.org/officeDocument/2006/relationships/image" Target="/ppt/media/image13.png" Id="Radde9f01fa84496d" /><Relationship Type="http://schemas.openxmlformats.org/officeDocument/2006/relationships/image" Target="/ppt/media/image14.png" Id="Rbd301ff8dc3d4211" /><Relationship Type="http://schemas.openxmlformats.org/officeDocument/2006/relationships/image" Target="/ppt/media/image15.png" Id="R4f9474a2374e447b" /><Relationship Type="http://schemas.openxmlformats.org/officeDocument/2006/relationships/image" Target="/ppt/media/image16.png" Id="R6f9a83124afe4f75" /><Relationship Type="http://schemas.openxmlformats.org/officeDocument/2006/relationships/image" Target="/ppt/media/image17.png" Id="Rc9953de11a8d475c" /><Relationship Type="http://schemas.openxmlformats.org/officeDocument/2006/relationships/notesSlide" Target="/ppt/notesSlides/notesSlide5.xml" Id="R06e833850e704f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c01b2c20f46b9" /><Relationship Type="http://schemas.openxmlformats.org/officeDocument/2006/relationships/image" Target="/ppt/media/image18.png" Id="R9c8b94a70658428f" /><Relationship Type="http://schemas.openxmlformats.org/officeDocument/2006/relationships/image" Target="/ppt/media/image19.png" Id="R74d712817aa64f3f" /><Relationship Type="http://schemas.openxmlformats.org/officeDocument/2006/relationships/image" Target="/ppt/media/image20.png" Id="Rf1d457c9a92b4222" /><Relationship Type="http://schemas.openxmlformats.org/officeDocument/2006/relationships/image" Target="/ppt/media/image21.png" Id="Rc2075a5b70194de7" /><Relationship Type="http://schemas.openxmlformats.org/officeDocument/2006/relationships/image" Target="/ppt/media/image22.png" Id="R3a62f133cc7f4597" /><Relationship Type="http://schemas.openxmlformats.org/officeDocument/2006/relationships/image" Target="/ppt/media/image23.png" Id="R6cadb62d49724132" /><Relationship Type="http://schemas.openxmlformats.org/officeDocument/2006/relationships/image" Target="/ppt/media/image24.png" Id="R6b8801828b6c4dc0" /><Relationship Type="http://schemas.openxmlformats.org/officeDocument/2006/relationships/image" Target="/ppt/media/image25.png" Id="R3743168e82c14db0" /><Relationship Type="http://schemas.openxmlformats.org/officeDocument/2006/relationships/notesSlide" Target="/ppt/notesSlides/notesSlide6.xml" Id="R9ed5b5e10efb46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4d0d979094ecb" /><Relationship Type="http://schemas.openxmlformats.org/officeDocument/2006/relationships/image" Target="/ppt/media/image26.png" Id="Rd4ffed9ded704f08" /><Relationship Type="http://schemas.openxmlformats.org/officeDocument/2006/relationships/notesSlide" Target="/ppt/notesSlides/notesSlide7.xml" Id="Rc2a1c37205e04e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389dcaecc452c" /><Relationship Type="http://schemas.openxmlformats.org/officeDocument/2006/relationships/notesSlide" Target="/ppt/notesSlides/notesSlide8.xml" Id="R3a6c26d5fb4740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97e42e2994c76" /><Relationship Type="http://schemas.openxmlformats.org/officeDocument/2006/relationships/notesSlide" Target="/ppt/notesSlides/notesSlide9.xml" Id="Rb6208b53dc754d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22bf3b7044f28" /><Relationship Type="http://schemas.openxmlformats.org/officeDocument/2006/relationships/notesSlide" Target="/ppt/notesSlides/notesSlide10.xml" Id="R9d119bfeb9f942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071dcf5124460" /><Relationship Type="http://schemas.openxmlformats.org/officeDocument/2006/relationships/notesSlide" Target="/ppt/notesSlides/notesSlide11.xml" Id="Ree19dc4353fc45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a8d9123974b9d" /><Relationship Type="http://schemas.openxmlformats.org/officeDocument/2006/relationships/notesSlide" Target="/ppt/notesSlides/notesSlide12.xml" Id="R758a5b66f2a348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a9e9f5985414c" /><Relationship Type="http://schemas.openxmlformats.org/officeDocument/2006/relationships/notesSlide" Target="/ppt/notesSlides/notesSlide13.xml" Id="Rde7d90556f9840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78a62454545c7" /><Relationship Type="http://schemas.openxmlformats.org/officeDocument/2006/relationships/notesSlide" Target="/ppt/notesSlides/notesSlide14.xml" Id="Ref80bc885d5147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f083f0d484edd" /><Relationship Type="http://schemas.openxmlformats.org/officeDocument/2006/relationships/notesSlide" Target="/ppt/notesSlides/notesSlide15.xml" Id="R55fa7ceb08464a0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71c7e27e8460f" /><Relationship Type="http://schemas.openxmlformats.org/officeDocument/2006/relationships/notesSlide" Target="/ppt/notesSlides/notesSlide16.xml" Id="R8466d1982f69487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53ac2b036411b" /><Relationship Type="http://schemas.openxmlformats.org/officeDocument/2006/relationships/notesSlide" Target="/ppt/notesSlides/notesSlide17.xml" Id="R952451d13ec540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4a7bfb77742d6" /><Relationship Type="http://schemas.openxmlformats.org/officeDocument/2006/relationships/notesSlide" Target="/ppt/notesSlides/notesSlide18.xml" Id="R4b0b4fdb964242e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804fb7d8d483c" /><Relationship Type="http://schemas.openxmlformats.org/officeDocument/2006/relationships/notesSlide" Target="/ppt/notesSlides/notesSlide19.xml" Id="R4bd893e3d64445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a436f011c4612" /><Relationship Type="http://schemas.openxmlformats.org/officeDocument/2006/relationships/notesSlide" Target="/ppt/notesSlides/notesSlide20.xml" Id="Rceda80bcaf144b8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dce944b7748cf" /><Relationship Type="http://schemas.openxmlformats.org/officeDocument/2006/relationships/notesSlide" Target="/ppt/notesSlides/notesSlide21.xml" Id="R7b8c01f6c87c4a8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36ef61e6b417a" /><Relationship Type="http://schemas.openxmlformats.org/officeDocument/2006/relationships/image" Target="/ppt/media/image27.png" Id="R262489f2fe504cc5" /><Relationship Type="http://schemas.openxmlformats.org/officeDocument/2006/relationships/image" Target="/ppt/media/image28.png" Id="R869219d198a24611" /><Relationship Type="http://schemas.openxmlformats.org/officeDocument/2006/relationships/image" Target="/ppt/media/image29.png" Id="R89ea867aeb854aa1" /><Relationship Type="http://schemas.openxmlformats.org/officeDocument/2006/relationships/notesSlide" Target="/ppt/notesSlides/notesSlide22.xml" Id="R98b90af9d75141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60527-6884-4A9E-B461-CEB2B166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9C51C-71C5-49BD-A3C1-0418B310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rPr>
              <a:t>技術者向け構築資料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A8CBE-F600-4D34-ADE4-F828D602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581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在庫管理システム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D8733-39DD-4871-A309-1C3DA8B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AtomS3 / StickS3 + Unit QRCode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Google Sheets / Apps Script 構築・検証手順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6509C-BAB0-41C2-AF58-F1651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ARCHITECTURE  ·  PROTOCOL  ·  SETUP  ·  ACCEPTANCE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7CE17-8903-4CFA-9CEE-95128B72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7700"/>
            <a:ext cx="4286250" cy="5143500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3599abcf14e13"/>
          <a:stretch xmlns:a="http://schemas.openxmlformats.org/drawingml/2006/main"/>
        </p:blipFill>
        <p:spPr>
          <a:xfrm xmlns:a="http://schemas.openxmlformats.org/drawingml/2006/main">
            <a:off x="7489054" y="1104900"/>
            <a:ext cx="1995442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bd8d860848ca"/>
          <a:stretch xmlns:a="http://schemas.openxmlformats.org/drawingml/2006/main"/>
        </p:blipFill>
        <p:spPr>
          <a:xfrm xmlns:a="http://schemas.openxmlformats.org/drawingml/2006/main">
            <a:off x="9582150" y="1066800"/>
            <a:ext cx="16192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3c12337a344ff"/>
          <a:stretch xmlns:a="http://schemas.openxmlformats.org/drawingml/2006/main"/>
        </p:blipFill>
        <p:spPr>
          <a:xfrm xmlns:a="http://schemas.openxmlformats.org/drawingml/2006/main">
            <a:off x="8723751" y="3105150"/>
            <a:ext cx="2078748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6EEFF-B06F-41BB-920F-73539A5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53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Wi-Fi → Apps Script → Google Sheets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20E47-F5E5-4611-BE7B-CE883C17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</p:spTree>
    <p:extLst>
      <p:ext uri="{BB962C8B-B14F-4D97-AF65-F5344CB8AC3E}">
        <p14:creationId xmlns:p14="http://schemas.microsoft.com/office/powerpoint/2010/main" val="1687287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1DA06-92F1-4CDE-8222-089B13FE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533E-4400-4154-A677-E0883792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01  システム概要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0762-A2BF-4AD9-A10B-27B9E54B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読取りから在庫表までの処理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354B7-FDB4-4496-9566-9641C59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端末はコードを保持し、Apps Scriptが履歴と在庫表を更新します。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3AF2-E33F-4855-AB56-8C59CF8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1DD18-D41F-4E64-B474-E512C5B6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14AD3-06C3-4071-85B0-9B316BBC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5B42-512B-4E35-BE42-8D49EADB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95FC3-9788-4A98-8EE6-12E7E26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7FB3-5D0A-421D-9E00-F7BDF642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7BC58-E008-4687-86C6-F63A79D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2次元バーコードを読む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B6DE-83A4-4C46-8D02-FDCA27A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Unit QRCodeのTRIGを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押している間に読取り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0888D-C817-488A-84D9-5A0C0BC3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963A7-9ACB-4343-92B3-73791295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6F42F-EEB4-49C3-A78C-BB4242D1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端末内へ保存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2FBDA-CD62-455C-8F06-AB89D4C7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event_idを付け、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未確認キューへ保持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E8C4B-9484-4690-B433-C5D4E53A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F6B68-DAF5-4AF6-8753-7602AA3E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372F5-99BB-45E5-89D7-A3F1831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HTTPSで送信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80C60-1471-4055-A733-212FB8B9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Wi-Fi経由で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Apps ScriptへPOST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88467-71D5-4AA0-A4D6-866F626D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DFD03-0927-4960-B6DA-9304C758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E7733-5226-425D-8CF8-FF927575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在庫を更新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03481-8719-4F9E-9DE5-93A5F178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Scansへ記録し、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Inventoryを集計</a:t>
            </a:r>
          </a:p>
        </p:txBody>
      </p:sp>
      <p:cxnSp>
        <p:nvCxnSpPr>
          <p:cNvPr id="5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43200" y="35718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276850" y="35718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848600" y="35718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d6daa84c54d3d"/>
          <a:stretch xmlns:a="http://schemas.openxmlformats.org/drawingml/2006/main"/>
        </p:blipFill>
        <p:spPr>
          <a:xfrm xmlns:a="http://schemas.openxmlformats.org/drawingml/2006/main">
            <a:off x="1024200" y="4171950"/>
            <a:ext cx="1247249" cy="1314450"/>
          </a:xfrm>
          <a:prstGeom xmlns:a="http://schemas.openxmlformats.org/drawingml/2006/main" prst="roundRect">
            <a:avLst>
              <a:gd name="adj" fmla="val 8696"/>
            </a:avLst>
          </a:prstGeom>
        </p:spPr>
      </p:pic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2f4b4a91b4cc2"/>
          <a:stretch xmlns:a="http://schemas.openxmlformats.org/drawingml/2006/main"/>
        </p:blipFill>
        <p:spPr>
          <a:xfrm xmlns:a="http://schemas.openxmlformats.org/drawingml/2006/main">
            <a:off x="3276600" y="4351777"/>
            <a:ext cx="952500" cy="954795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a2dac07164826"/>
          <a:stretch xmlns:a="http://schemas.openxmlformats.org/drawingml/2006/main"/>
        </p:blipFill>
        <p:spPr>
          <a:xfrm xmlns:a="http://schemas.openxmlformats.org/drawingml/2006/main">
            <a:off x="4248150" y="4352925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3CC19E-D08C-4A25-8AFB-48E58F36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 / StickS3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231FB-0D0D-4823-B0A5-EB15190E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945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Google Apps Script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D559F-B7C0-4CE4-B777-CE2AE591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352925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F72297-6FB5-4B9D-925E-E9E16203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在庫履歴はScansに保存し、Inventoryはその履歴から再集計します。</a:t>
            </a:r>
          </a:p>
        </p:txBody>
      </p:sp>
    </p:spTree>
    <p:extLst>
      <p:ext uri="{BB962C8B-B14F-4D97-AF65-F5344CB8AC3E}">
        <p14:creationId xmlns:p14="http://schemas.microsoft.com/office/powerpoint/2010/main" val="765026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371B6-7434-40F0-AD7F-D3FA1D6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DA066-76EA-4E4F-97CB-3FF8A8A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02  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225F7-2922-4535-A9E4-8691A1D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対応端末・リーダーと事前準備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B877A-6D4F-4E8C-A0E7-D164F29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AtomS3またはStickS3をUnit QRCodeと組み合わせます。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8DB0-A03A-4619-AFF6-19BE94E7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2C4F4-C972-476C-A3EC-07CBC0A8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66C76-2D25-415E-88B0-18DB8A92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EE1CE-657A-4485-AD50-15718CE8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DAD24-9270-4054-BA86-56F42660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59B2-6E54-4E81-BC59-4BE14DCC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C0B7B-633C-4EBD-A00C-CA7BBA89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0e9b0a954558"/>
          <a:stretch xmlns:a="http://schemas.openxmlformats.org/drawingml/2006/main"/>
        </p:blipFill>
        <p:spPr>
          <a:xfrm xmlns:a="http://schemas.openxmlformats.org/drawingml/2006/main">
            <a:off x="1278525" y="1962150"/>
            <a:ext cx="180540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2CC24-9A06-4473-B17D-DCC3F9E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AtomS3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7C649-EA63-49EB-80D1-D9C80AF1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128×128画面 / PORT.A G2・G1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ed8415369426a"/>
          <a:stretch xmlns:a="http://schemas.openxmlformats.org/drawingml/2006/main"/>
        </p:blipFill>
        <p:spPr>
          <a:xfrm xmlns:a="http://schemas.openxmlformats.org/drawingml/2006/main">
            <a:off x="4876800" y="1866900"/>
            <a:ext cx="2038350" cy="2038350"/>
          </a:xfrm>
          <a:prstGeom xmlns:a="http://schemas.openxmlformats.org/drawingml/2006/main" prst="roundRect">
            <a:avLst>
              <a:gd name="adj" fmla="val 5607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E55A0-D972-45E8-89E7-CF982D1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A30F1-0A3E-4FBA-9982-0330A7C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135×240画面 / PORT.A G9・G10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561ea9ffe4ffd"/>
          <a:stretch xmlns:a="http://schemas.openxmlformats.org/drawingml/2006/main"/>
        </p:blipFill>
        <p:spPr>
          <a:xfrm xmlns:a="http://schemas.openxmlformats.org/drawingml/2006/main">
            <a:off x="8625579" y="1885950"/>
            <a:ext cx="1970292" cy="2076450"/>
          </a:xfrm>
          <a:prstGeom xmlns:a="http://schemas.openxmlformats.org/drawingml/2006/main" prst="roundRect">
            <a:avLst>
              <a:gd name="adj" fmla="val 5505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99FDA-4B04-429C-AA05-1100100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15110-3E39-4C31-8392-810BE45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TRIGボタン / I2Cモード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C2CB4-696C-49E8-8A38-1A0AB86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0763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BBF24-FCB0-45D1-A261-9408AFF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事前準備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7C307-A700-47B6-A44A-0F074BA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2.4GHz Wi-Fi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83A52-C0CE-4B6B-A80B-EFBC1E3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Googleアカウント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0E66F-7801-45C9-A92F-7EA048EC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A5680-9D06-48CF-9896-92EF773B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VS Code + PlatformIO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258CEE-9E72-412F-B004-8264745A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4304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Grove / USB-Cケーブル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51844-DD94-47B1-BA6A-39F0E855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同じソースをM5Unified / M5GFXで動かし、端末ごとのPORT.Aと画面寸法は実行時に取得します。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2590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9D1C7A-DA38-40A6-9F39-D5995E7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3255E-6183-468A-9064-C65F556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03  接続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3ACB3-86D0-4AD0-9D2E-3A2FE225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QRCodeをI2Cモードで端末へ接続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3FD94-4497-4F57-BB01-DDEB619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AtomS3またはStickS3の電源を外してから、PORT.Aへ接続します。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74BC7-644C-448F-AEB4-54ED08B7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527A0-EFF2-49F1-9FC8-37ACD31E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E256A-B7F1-4E45-8414-A5D60BAE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74748-C8E6-44F5-9081-1B8CCCAC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FC8F9-6480-44F5-9A8F-AE59B2A1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239000" cy="37338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52df24e084c8e"/>
          <a:stretch xmlns:a="http://schemas.openxmlformats.org/drawingml/2006/main"/>
        </p:blipFill>
        <p:spPr>
          <a:xfrm xmlns:a="http://schemas.openxmlformats.org/drawingml/2006/main">
            <a:off x="800100" y="2541545"/>
            <a:ext cx="1352550" cy="1355809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3b8df8887484f"/>
          <a:stretch xmlns:a="http://schemas.openxmlformats.org/drawingml/2006/main"/>
        </p:blipFill>
        <p:spPr>
          <a:xfrm xmlns:a="http://schemas.openxmlformats.org/drawingml/2006/main">
            <a:off x="2209800" y="26860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289D5-5621-4262-ADD4-770056FB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いずれか1台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001d3328243c8"/>
          <a:stretch xmlns:a="http://schemas.openxmlformats.org/drawingml/2006/main"/>
        </p:blipFill>
        <p:spPr>
          <a:xfrm xmlns:a="http://schemas.openxmlformats.org/drawingml/2006/main">
            <a:off x="5391150" y="2316299"/>
            <a:ext cx="2057400" cy="2168251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F083A-C2A6-43E8-9F6A-57B7F4C2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90850"/>
            <a:ext cx="876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PORT.A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DAB90-154D-46C9-BFB3-759A442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90850"/>
            <a:ext cx="628650" cy="6858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I2C</a:t>
            </a:r>
          </a:p>
        </p:txBody>
      </p:sp>
      <p:cxnSp>
        <p:nvCxnSpPr>
          <p:cNvPr id="46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43400" y="33337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602C2-AD43-43F3-A1F3-08E1BF6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Groveケーブル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2F2F55-0F79-427C-AE52-D616CCB9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3429000" cy="3733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21B66-B56F-4370-8F1B-7082B47E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接続前の確認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7C205-B9BA-4678-8163-64C64198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70A21-2982-40C1-BD54-65FE85DC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62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端末の電源を外す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66C19-F2A5-4BC8-B307-DAE974BA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63195-C423-4BDF-8394-88954099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Unit QRCodeの切替をI2Cへ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88D84-4017-485A-9795-A8CF5FBD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B5A32-82B9-40AF-AC17-8834A48C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端末のPORT.Aへ接続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D6298-7415-4F71-BBCE-38FB2B7E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983106-29D6-4979-8C70-28BFBC39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接続後にUSB給電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D0BD4C-0A4F-4E51-96AD-C7523D6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91200"/>
            <a:ext cx="2619375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AtomS3: SDA=G2 / SCL=G1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A1629-C285-485E-8DB0-EDE34515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91200"/>
            <a:ext cx="2724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StickS3: SDA=G9 / SCL=G10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E55FE-CE1D-4F5A-8A80-DA7A9423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91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ピン番号はソースへ固定しません</a:t>
            </a:r>
          </a:p>
        </p:txBody>
      </p:sp>
    </p:spTree>
    <p:extLst>
      <p:ext uri="{BB962C8B-B14F-4D97-AF65-F5344CB8AC3E}">
        <p14:creationId xmlns:p14="http://schemas.microsoft.com/office/powerpoint/2010/main" val="127638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B45986-B554-4324-BCA4-F4DF8FD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5731D-A82F-4384-B656-F3579065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04  日常操作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B415D-5726-484F-A848-7C18B342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TRIGを押して読み取り、SAVEDを確認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895C0-B171-4314-AA87-DE209B6F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操作はUnit QRCodeのTRIG。通信が早い場合はSTOREDから直接SAVEDへ進みます。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2FE98-36B5-4251-85E9-28126655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A9AE0-65F9-4D0A-97A1-05AAD9E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6065-A15B-460E-A0DD-BFAF92D7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CA113-779F-48ED-8D1C-C06D8C6E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BB258-F60B-4760-82E1-8DF8D6F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e9f01fa84496d"/>
          <a:stretch xmlns:a="http://schemas.openxmlformats.org/drawingml/2006/main"/>
        </p:blipFill>
        <p:spPr>
          <a:xfrm xmlns:a="http://schemas.openxmlformats.org/drawingml/2006/main">
            <a:off x="476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0D8E3-CC20-4D2A-B77B-C303C59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86C30-E8F0-414F-A8B5-0893A91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次の商品を準備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A692-A3F9-41CA-95F4-05821631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542C8-AE27-4D94-8E23-2133B12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01ff8dc3d4211"/>
          <a:stretch xmlns:a="http://schemas.openxmlformats.org/drawingml/2006/main"/>
        </p:blipFill>
        <p:spPr>
          <a:xfrm xmlns:a="http://schemas.openxmlformats.org/drawingml/2006/main">
            <a:off x="28575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FFA5-5A37-4417-B40D-55607C6E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D97975-D8E7-4088-AD98-FD9B6EB9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押している間だけ読取り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28756-1C72-43D8-A083-1BF088FC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37331-5D34-424C-AEB8-DFF119B2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474a2374e447b"/>
          <a:stretch xmlns:a="http://schemas.openxmlformats.org/drawingml/2006/main"/>
        </p:blipFill>
        <p:spPr>
          <a:xfrm xmlns:a="http://schemas.openxmlformats.org/drawingml/2006/main">
            <a:off x="52387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D0FB3-64C8-4EFF-AF4B-49BEAE7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D3808-A51A-410F-92EC-C0C68BF4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音が鳴ったら離す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7FC96-F27A-498C-94E1-B3F1C192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D478C-2AF0-46F1-B350-A6CCDF5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83124afe4f75"/>
          <a:stretch xmlns:a="http://schemas.openxmlformats.org/drawingml/2006/main"/>
        </p:blipFill>
        <p:spPr>
          <a:xfrm xmlns:a="http://schemas.openxmlformats.org/drawingml/2006/main">
            <a:off x="76200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29DF5-BE89-453A-AB56-DE7534F9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送信の表示例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F84FD-8296-416E-83FC-83E04C61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通信状況により表示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B555C-D7D1-4CF9-9095-E441842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E9C10-3CE9-4395-927D-7988F168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53de11a8d475c"/>
          <a:stretch xmlns:a="http://schemas.openxmlformats.org/drawingml/2006/main"/>
        </p:blipFill>
        <p:spPr>
          <a:xfrm xmlns:a="http://schemas.openxmlformats.org/drawingml/2006/main">
            <a:off x="10001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6C30C-C817-454D-BBEE-FC887F03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FB91E-BFE3-4A3C-A946-0940C759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この1件をScansへ保存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44F3C3-3272-4835-BD5A-37835CB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2673C-41F3-4303-9527-4DEBD4F3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34025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SAVEDはこの1件をScansへ保存確認済み。通信中も次のTRIG操作ができます。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SENDING / SYNCINGは背景の再送中などに表示し、必ず全画面を順に表示するとは限りません。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2000164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F753C6-8E9D-4755-B5EC-80E0FA9E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3D2BD-04E3-462F-8B67-A856ABCF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05  画面表示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EF5CE-398D-4D0E-B0D3-4C10542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画面表示の意味と次の操作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4A413-152A-4BF0-B363-CA0E2A2F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UNSENTは送信中も含む未確認件数。READYは次の受付可能、ALL SAVEDは全件完了です。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E791F-1E1D-4A7B-95A1-89E6D642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C803B-7845-408C-AEFE-EC725B7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17238-770A-471F-8D88-B668503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09618-8A6B-4EB2-B942-7CA72E39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23B64-C1A4-40F0-ADA1-CC1BAE92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b94a70658428f"/>
          <a:stretch xmlns:a="http://schemas.openxmlformats.org/drawingml/2006/main"/>
        </p:blipFill>
        <p:spPr>
          <a:xfrm xmlns:a="http://schemas.openxmlformats.org/drawingml/2006/main">
            <a:off x="7429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93879-1ADC-42E6-A660-3BF6936A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FA532-EBEA-4892-8352-8B313BB0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次を読み取れます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5437-F5EB-4749-A94B-7AA023A7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9E51F-9E9C-4331-810D-AFC00A4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12817aa64f3f"/>
          <a:stretch xmlns:a="http://schemas.openxmlformats.org/drawingml/2006/main"/>
        </p:blipFill>
        <p:spPr>
          <a:xfrm xmlns:a="http://schemas.openxmlformats.org/drawingml/2006/main">
            <a:off x="35433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EAE16-48C1-4400-BE63-B84532C6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D8C00-BDD6-4143-A83B-05159FF7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端末内に保存済み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BB3C8-344C-4523-B78F-A029D708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499BF-B6A6-4A57-9666-ACABE96C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457c9a92b4222"/>
          <a:stretch xmlns:a="http://schemas.openxmlformats.org/drawingml/2006/main"/>
        </p:blipFill>
        <p:spPr>
          <a:xfrm xmlns:a="http://schemas.openxmlformats.org/drawingml/2006/main">
            <a:off x="63436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4BD62-BD7D-4287-993E-571D293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4F4C4-EC64-45E6-9524-0676B7C4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今回の対象中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確認済み件数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0B3FA-0BCD-4454-B01F-390AF8D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68B4E-0ACE-4815-9279-25CBDF8F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75a5b70194de7"/>
          <a:stretch xmlns:a="http://schemas.openxmlformats.org/drawingml/2006/main"/>
        </p:blipFill>
        <p:spPr>
          <a:xfrm xmlns:a="http://schemas.openxmlformats.org/drawingml/2006/main">
            <a:off x="91440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D24614-D44B-486C-BFC0-25128E39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27255-4CA0-4D3C-9C7B-10276F1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保存確認済み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AE0B2-4D49-4461-A33C-2C296CFC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DFB44-F59F-4E00-960F-FED24678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2f133cc7f4597"/>
          <a:stretch xmlns:a="http://schemas.openxmlformats.org/drawingml/2006/main"/>
        </p:blipFill>
        <p:spPr>
          <a:xfrm xmlns:a="http://schemas.openxmlformats.org/drawingml/2006/main">
            <a:off x="7429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E052FC-CB91-4945-93A8-DC0E3FCD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4B5C4-15F8-461E-8E52-7B88BA6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未確認データなし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DB695-17EE-45AD-BA8F-520F0F05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1A3791-FB76-43A1-B280-8E9A8B26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db62d49724132"/>
          <a:stretch xmlns:a="http://schemas.openxmlformats.org/drawingml/2006/main"/>
        </p:blipFill>
        <p:spPr>
          <a:xfrm xmlns:a="http://schemas.openxmlformats.org/drawingml/2006/main">
            <a:off x="35433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9B01E4-26FE-477C-B006-E8262DED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6BEC44-2462-4002-B4AB-727DD505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WAIT WIFI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復旧後に自動再送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75B623-3418-4582-B124-2D640D9C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F7C4D5-20BE-408D-8261-4F26F0A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801828b6c4dc0"/>
          <a:stretch xmlns:a="http://schemas.openxmlformats.org/drawingml/2006/main"/>
        </p:blipFill>
        <p:spPr>
          <a:xfrm xmlns:a="http://schemas.openxmlformats.org/drawingml/2006/main">
            <a:off x="63436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A85621-DF36-4B29-9A4B-0037F23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NO CODE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7CAE4-60B4-4BAF-AC4C-1240E3B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もう一度読み取る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C4DE-BB23-4F42-B0BE-ECFBCA3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B28275-D286-4344-AC7F-B80013C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3168e82c14db0"/>
          <a:stretch xmlns:a="http://schemas.openxmlformats.org/drawingml/2006/main"/>
        </p:blipFill>
        <p:spPr>
          <a:xfrm xmlns:a="http://schemas.openxmlformats.org/drawingml/2006/main">
            <a:off x="91440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0AB08A-6A16-4BCB-9F82-2F90036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4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808BC8-3BF5-4704-8E19-EF118B21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未受付。空き後に再読取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485CD-AF0B-4194-8894-D07E801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53A21-4DA7-46A4-98C5-42E3A48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最大16件（送信中を含む）。満杯時の読取りは再スキャンが必要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CECF87-B0BE-4E85-970C-6F0BB20E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0550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Wi-Fi：ON 接続 / … 接続中 / OFF 未接続</a:t>
            </a:r>
          </a:p>
        </p:txBody>
      </p:sp>
    </p:spTree>
    <p:extLst>
      <p:ext uri="{BB962C8B-B14F-4D97-AF65-F5344CB8AC3E}">
        <p14:creationId xmlns:p14="http://schemas.microsoft.com/office/powerpoint/2010/main" val="2072595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289109-9C63-4C31-B41E-C29ABE23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BE42E-3CA4-49BD-849C-56CB00A7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06  在庫確認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3AB11-F006-4341-B6DF-2DF3856C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Inventoryシートで数量・状態・画像を確認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D92F7-058A-4E84-8914-1C899BA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ブラウザを閉じていても、Webアプリが受信してデータを追加します。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8FCA5-479B-4972-89B4-7CC5122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80052-0926-4371-980A-5A0ED799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FDA4A-3475-45B1-9842-866B6B34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D7A8C-5BC6-41E3-A8DA-7ADBE22A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79DC-E14F-4EF8-ADA2-C3352F2B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53750" cy="3562350"/>
          </a:xfrm>
          <a:prstGeom xmlns:a="http://schemas.openxmlformats.org/drawingml/2006/main" prst="roundRect">
            <a:avLst>
              <a:gd name="adj" fmla="val 4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fed9ded704f08"/>
          <a:stretch xmlns:a="http://schemas.openxmlformats.org/drawingml/2006/main"/>
        </p:blipFill>
        <p:spPr>
          <a:xfrm xmlns:a="http://schemas.openxmlformats.org/drawingml/2006/main">
            <a:off x="818491" y="1943100"/>
            <a:ext cx="10535968" cy="3162300"/>
          </a:xfrm>
          <a:prstGeom xmlns:a="http://schemas.openxmlformats.org/drawingml/2006/main" prst="roundRect">
            <a:avLst>
              <a:gd name="adj" fmla="val 301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CED34-A607-4795-85AC-0D1220A6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A7C7E-04CF-487A-8063-0E3A439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23E9A-BDB7-4AF5-AB28-8738B36E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保有数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58F15-8D3F-4B99-9177-8E50C91F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未使用＋使用中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0BBB6-014E-4ADF-A0C3-E1ADC898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C0382-D041-4060-90E1-52C7D2FB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0B709-64B6-4893-BC59-C2D5909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状態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C7697-C693-4CC2-9673-3A5B7D8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22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未使用・使用中・廃棄済み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95D03-4A56-4AC6-AF0F-E95B9E63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CDB28-AF00-45E1-AD0A-A08A125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FE1EB-B787-45B9-B424-77F2BCAE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商品情報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C2A3F-D135-4612-BE16-6FC444A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61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ProductMasterから表示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874F45-8B0E-46ED-94C8-D24FC66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1F979-5CBC-4BBE-B1D7-21C307A8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759EE-3930-429B-8775-3C8EE62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操作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91050F-261F-4DBB-B850-5B0B64F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状態変更を選択</a:t>
            </a:r>
          </a:p>
        </p:txBody>
      </p:sp>
    </p:spTree>
    <p:extLst>
      <p:ext uri="{BB962C8B-B14F-4D97-AF65-F5344CB8AC3E}">
        <p14:creationId xmlns:p14="http://schemas.microsoft.com/office/powerpoint/2010/main" val="1016923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CA407B-1BD1-4C7B-928F-CEB21E8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767C4-8C23-476E-91C4-04AA3F9C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07  データモデル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895E-61AD-488B-A822-C47F0F8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3シートの役割とデータの流れ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DB179-F4D6-4D8B-8036-E793AB46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履歴、商品情報、表示用集計を分離しています。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80B52-2E79-48C6-991B-D28FA4B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BC10-2AFE-47ED-BD4A-1381CD52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444A-6A74-4240-A58C-8D5DBE9F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DE867-BD49-4783-849D-670578C0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D2EC9-0935-4694-A21F-6487B59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740DD-0E21-491E-B1D1-0857D4BC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05418-B640-4CD1-9D3F-5C53CC59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5E472-7C97-46EB-876E-A82B4396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EVENT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01F4C-E507-4D7B-A26A-6E911F3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Scans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3F90D-3FD5-4FF6-9DB3-B9AD2A4F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event_id / code / delta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received_at / 状態差分 /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A2B29-B460-4192-B272-7C09B17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登録と状態変更を追記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既存行は編集しない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4C4EA-6CAC-45CA-86C6-CAE780A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336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 METADATA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D48A9-C99D-45D0-8395-4D897416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ProductMaster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733B0-F91C-43F6-8770-BEB3EEE2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code / name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imageURL / sourceURL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0C018-2CF9-47E6-B4B0-6263701A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公式SKUから自動取得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失敗時はB〜D列を手動補完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0AE22-FCEB-4B0A-909B-1D4D8133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DERIVED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955E6-4068-493B-95B3-4214840C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Inventory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85DD0-0499-408A-9A75-0688A66C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数量集計 + 完全一致参照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 / HYPERLINK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255C8-C1CC-44B9-80AC-AF3AF531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ScansとProductMasterから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再構成される表示</a:t>
            </a:r>
          </a:p>
        </p:txBody>
      </p:sp>
      <p:cxnSp>
        <p:nvCxnSpPr>
          <p:cNvPr id="51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43350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62875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58F25-850B-4505-A29E-7B81E68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B9B60-4177-498F-BD58-4E3AA155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0070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新規コードはScansへ必ず保存。商品検索に失敗しても在庫記録は残り、ProductMasterを後から補完できます。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4043207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0E94C-BFF5-4D82-983A-E1529A6C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D7FE2-A188-4953-BA57-D7011938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08  状態管理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8C477-D974-4C95-8496-13A71106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在庫の状態はInventoryの操作欄から変更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9A9C2-EBC5-4ACB-91A6-28A7D96E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数量セルやScansの履歴は直接編集しません。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C7B6B-CD3A-4A29-991A-D955972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BB800-5D02-4703-B533-25A01F1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3B50B-A117-4141-BCC0-FA683B7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E5A21-9373-49E9-B4C9-D10683F8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B4DA3-FBFB-4595-BB70-710B2BD6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未使用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購入・登録済み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2E927-1886-450D-8208-1F20F1F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使用中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現在使用している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0B276-0895-41BA-BE85-E582B664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5268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廃棄済み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保有数には含めない</a:t>
            </a:r>
          </a:p>
        </p:txBody>
      </p: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381375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334250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2687A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CA59B-B654-48B5-9572-E8488F7D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使用開始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DE2DA-F60C-4495-8CA2-614DC217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使用中を廃棄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685D9-1D12-417B-BD68-BB94DDE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36A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11084-8E94-42F6-A2FA-27E05E1B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434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未使用を廃棄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1610F-7638-4A97-86F0-5F557BF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76CB5-9447-4299-8E2A-ECE1254C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1DE4-45A9-438E-9946-4FA6268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すべての状態変更はScansへ履歴として追加されます。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製品名・画像・参照元の修正はProductMasterで行います。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17259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E348E-4C27-4D41-8A7B-5CC75684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D069E-BDEF-42D5-BD5E-FE00E7D3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09  保存確認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B5D33-BFA1-4002-9870-9A7EA0D1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保存確認と二重登録の防止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9BF32-A8F9-466E-980C-5288158D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同じevent_idを再送し、Google側で重複を判定します。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0630D-B5E9-49C8-A951-F396FFC7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28299-4B03-4CF0-9658-6D354B57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41011-EA1F-4C6B-A468-EE8B8979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E0346-B486-4784-AEAE-EC6BAB7F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AE11B-9A06-4B8B-90F3-0D08416A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F0A3D-7B4B-4486-BCEB-28DA5FFA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101CC-3ED0-4262-93E4-0F57A4F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7F632-6242-4EC7-9DDC-9C7F2009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8A8F5-C3C2-41C0-B8CD-1936A1BA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端末キュー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EBBD2-6AFB-48EC-9D08-09C59484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送信中も含め16件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再起動後も保持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AB284-9E1B-43E6-9A37-BC533183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HTTPS送信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A2740-9AD2-4418-9761-9F2FC897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タイムアウト時は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同じIDで再試行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AE500-0593-4315-B9C7-DE63158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書込み＋読戻し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EDB78-B812-44D9-9ADA-EF68ED37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Scansの2列を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IDとコードで照合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6030A-12A2-4CB6-81C7-2444632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E07AD-7E97-47A7-BF8F-85926DC7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応答のID一致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verified:true</a:t>
            </a:r>
          </a:p>
        </p:txBody>
      </p:sp>
      <p:cxnSp>
        <p:nvCxnSpPr>
          <p:cNvPr id="4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765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79120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058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F0F9F-594F-46D6-85C9-7AA4496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48200"/>
            <a:ext cx="8572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3E983-532C-49E8-A199-6B218A0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19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STOREDのとき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9FC4E-406A-4EB0-BBB2-A7AF6FF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未確認データは削除されません。Wi-Fi復旧後、同じevent_idで自動再送されます。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0D47E-8C83-440D-8BF4-8540213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29225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確認後に永続キューを削除。失敗時は未送信のまま保持</a:t>
            </a:r>
          </a:p>
        </p:txBody>
      </p:sp>
    </p:spTree>
    <p:extLst>
      <p:ext uri="{BB962C8B-B14F-4D97-AF65-F5344CB8AC3E}">
        <p14:creationId xmlns:p14="http://schemas.microsoft.com/office/powerpoint/2010/main" val="18726009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D16CA-359A-48ED-A025-C0FF4AF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D890A-ED80-4DA7-90BC-90339CE5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10  通信仕様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27913-65AB-4FE8-BB6D-D0FCE030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端末とApps Scriptの受信プロトコル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CDCA2-653A-400C-A0B4-AD8B5DD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HTTP 200だけでは成功とせず、JSON応答とeventIdを検証します。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82BD-2B89-4308-8271-5CFEB175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2617E-D8E3-464D-8890-0FE7363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F1902-F783-419A-B25F-75E86717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97920-1499-4A67-A519-B3536DE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F1D6-47CF-4DEA-88E3-45C9C0E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533400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BD1EC-4559-4A86-A077-F7B1E040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POST /exec   application/json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3AC5C-C7F5-4576-A59B-1D023F87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7625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"version": 1,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"key": "&lt;DEVICE_KEY&gt;",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"eventId": "evt-...",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"code": "C145"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9E9A1-94A4-4E7A-93B2-5BD9808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eventId: 16〜80文字の英数字・ハイフン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code: 1〜512文字、制御文字なし / 1イベント=+1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2CA77-3045-4E2D-8D33-367CE25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5410200" cy="19812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0377DE-BA6E-49D2-AAD6-297383AC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9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保存確認応答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7731B-5F60-45D9-BE9A-CBE2840E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{"ok":true, "eventId":"evt-...",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 "duplicate":false, "verified":true}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56BBE-1934-42CC-8B00-B2A658FF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7185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ok:true + eventId一致 + verified:true + 端末内削除成功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340F5-551B-4575-8A7C-FE54CC5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00500"/>
            <a:ext cx="541020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56CC5-BB45-443E-8280-19CE0A95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ContentServiceのリダイレクト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328C-464F-4FBA-AEBB-42E13A77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480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302 / 303 → script.googleusercontent.com へGET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共有キーを含むPOSTは転送しない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26A91-9925-4676-B1D0-32644DB6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10200"/>
            <a:ext cx="762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再試行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8E2C1-BCE1-4D8E-B4E8-A45B785F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102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BUSY / STORAGE_ERROR / timeout は同じeventId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998C6-165D-452E-81B6-AE212AFE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4394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1330A-066A-4429-8B29-73DFC3B6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626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UNAUTHORIZED / NOT_CONFIGURED / INVALID_REQUEST / SCHEMA_MISMATCH / EVENT_CONFLICT は設定・データを修正</a:t>
            </a:r>
          </a:p>
        </p:txBody>
      </p:sp>
    </p:spTree>
    <p:extLst>
      <p:ext uri="{BB962C8B-B14F-4D97-AF65-F5344CB8AC3E}">
        <p14:creationId xmlns:p14="http://schemas.microsoft.com/office/powerpoint/2010/main" val="13734031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DEEEA-FE24-4070-8BFC-FB09B730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D6C2A-59FF-4579-A653-9E2C07C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11  Google側の準備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57490-030A-48D3-9436-09CF2869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 SheetsからApps Scriptを開く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A5A7F-87B5-4399-8627-364F874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空の非公開スプレッドシートを作り、同梱ファイルを配置します。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4973E-B63B-4CD9-9F6B-A1A4978E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9ADAB-36F3-4CC7-8105-EDCFC77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3FBD7-EC6A-46F5-B6D8-188A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74B78-0698-4241-8E1A-D9B970A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B841E-1623-460F-8E90-2A13153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319B2-A997-4A05-A86B-79C346F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16743-354E-458F-B568-87CE01A7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4CF7-D09F-496E-BC47-55BB8984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B8E14-410F-4CA3-B0EA-93A0BD94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85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スプレッドシートを作成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A1B21-8396-4FC9-9E56-1170529B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D351D-A8A3-401F-8AE1-C03C73D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B727F-3FF6-49ED-9B4C-22F67C2E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M5Stack_Inventory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E8F72-EF44-4C42-B0EE-B943D4B2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ファイル名は任意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6550A-39A8-4E00-96DE-81738639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シートは非公開のまま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94916-55AC-43AB-B640-F38C8509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23F47-28BB-4F33-970B-F8663D6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8597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Scriptを開く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0F84-DBC9-4097-9498-A0618D44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E9B3A-7473-4045-9043-CCC94DB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拡張機能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4FF59-9EFE-43D1-9464-F7B7ECF7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48025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D286A-6EE9-4FA6-AA4B-2A1E483E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133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86CA2-00B0-4822-A1A2-88D9719F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Apps Script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B90147-B4BF-4B02-A266-54D8175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ここから新しいタブを開く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0DE91A-2D9B-4B8C-9349-002B5EFD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979AD-2E51-497D-A576-F5F9BF3E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2ファイルを配置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D4B5A4-15D7-4DB5-810F-6D92E6DE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86050"/>
            <a:ext cx="270510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56542-9C95-49E5-823D-BAB95159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Code.gs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E8A038-DFAD-4DC1-A2DC-0C04FC1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apps-script/Code.gs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の全内容を貼り付けて保存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829A2-BA44-4418-AB07-E2A0CD51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3E2E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83E2E9"/>
                </a:solidFill>
                <a:latin typeface="Menlo"/>
                <a:ea typeface="Menlo"/>
                <a:cs typeface="Menlo"/>
              </a:rPr>
              <a:t>appsscript.json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D881D2-842A-411F-A6E5-0596576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3865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左の歯車でマニフェスト表示をオン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同梱内容へ置き換えて保存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01480F-84B9-4D61-9B8D-101A452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appsscript.json：Asia/Tokyo / V8 / Sheets・外部取得権限 / 匿名Webアプリ設定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1C94A-96BF-42C2-BC23-0A1F59EB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Google画面で「コード.gs」と表示されても問題ありません。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9658565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283964-D165-4EC9-A5CD-445B2661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8CCE9-081D-4D9F-877E-3EB065CD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12  Apps Script設定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E4D9A-69F6-4940-925D-6BB3321E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スクリプトプロパティを2件登録し、setupを実行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27F89-1436-44A2-AD69-F510C41E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共有キーはコードへ直接書かず、Google側と端末側へ同じ値を設定します。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2F3B-FC6E-480A-AEEE-30339F28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F894F-EA9A-4E3C-BD78-DBF212B0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47CED-C136-4DFF-8AC6-6CB5730A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D5FD1-0FAA-42A9-B3CC-DFF8B86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F7D52-0F26-44DB-8142-BE2AACBC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52450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2FD6E-FE5D-4E27-8A95-91F4FCC7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905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  プロジェクトの設定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DD33E-503C-4CAA-BD03-4EC964C7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9B172-F3FC-40EC-87B1-006CD238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D55B0-9D52-470E-A675-9600C116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SPREADSHEET_ID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50225-9442-4669-AADF-F637E7A7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86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URLの /d/ と /edit の間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C9764-6F48-4440-A0F5-928F351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813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ファイル名やシート名ではありません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BF6CF-F69B-440D-B62E-D6F4B3F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B156D-2F73-47D7-962C-955F368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2907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F1CB2-9EAD-4F4A-831D-7BCFC4B1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0290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32文字以上のランダムな共有キー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DFC97-F5FD-4C87-9CD5-D08AAE7F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24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端末側にも同じ値を設定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4E755-672E-4DF8-897B-31DFDB63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例：openssl rand -hex 32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68C1C-FE59-44DD-927F-D1FE967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512445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1F347-44DA-4708-A8FF-EE6556D2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1752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初回セットアップ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83D52-0AC8-43A0-A0A9-02780CDC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setup()を1回実行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A58A4-A388-4429-AF5E-EC0E7965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81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0299EF-5421-4B0B-8C19-D04DE48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908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関数選択で setup を選ぶ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BB0E3-E18F-4071-8562-F0CA237A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38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9908D0-E101-4364-8FD0-FBA6E42D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48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［実行］を押す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BDE0B2-D58D-4FFF-AD47-57DCAC44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F3866A-3009-494B-B346-776591D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052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Googleの権限確認を許可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DC1E3-A8D3-4FDD-A0FA-D5A20E43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81306D-62DB-42F3-9214-18E5867C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624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実行ログの「実行完了」を確認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21179-C3A1-4636-988F-C86EEB14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作成されるシート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CA6007-066E-4C89-9899-DBDF9957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054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73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Inventory  /  ProductMaster  /  Scans</a:t>
            </a:r>
          </a:p>
        </p:txBody>
      </p:sp>
    </p:spTree>
    <p:extLst>
      <p:ext uri="{BB962C8B-B14F-4D97-AF65-F5344CB8AC3E}">
        <p14:creationId xmlns:p14="http://schemas.microsoft.com/office/powerpoint/2010/main" val="921111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51519-593A-4EEF-B602-C043BD5C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D12C8-02FB-4E7D-9B82-2E553FE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13  DEVICE_KEY生成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2105C-A6F3-4138-82D5-FCB07B93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OSに合う方法で64文字のDEVICE_KEYを生成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9BCD2-1BFE-4AF1-A2DB-B0906454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32バイトの暗号学的乱数を16進数へ変換します。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D54B9-2765-40EB-B7EC-2C67FC82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A6D30-5C27-482B-9A7A-48B5E73C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0586-6E45-4F3E-B4D1-497F0722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A189D-40F2-4CDC-ADD6-A93D51A7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0679-4A6D-44EB-BBE7-B77F1437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52959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0A15F-94C2-46F2-9FF5-9F0F9702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macOS / Linux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0DFA3-90B9-472E-8425-C0F3D20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OpenSSLを利用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0DD52-D822-46BE-B9EE-3E7D7B8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47625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86298-C349-492A-B443-2CBBFB2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rand -hex 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2F267-E1BB-4FAC-8180-4F22503B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OpenSSLが利用できるターミナルで実行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E90B6-594F-4230-AE06-B75B57B1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出力例：a8f3…9c21（実際は64文字）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B978C-B6EA-4014-A340-047954A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54483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4B699-0149-4F9A-A4A0-C038E45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 10 / 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B23C1-8DB9-46E0-A2DF-A110E831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Windows PowerShell 5.1以上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3DEC5-C80C-4DBB-98F3-4409576E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86100"/>
            <a:ext cx="4914900" cy="18669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E2371-63CE-4A34-8F4A-343FDBBA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5529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$bytes = New-Object byte[] 32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 = [Security.Cryptography.RandomNumberGenerator]::Create()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$rng.GetBytes($bytes)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-join ($bytes | ForEach-Object { $_.ToString("x2") })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$rng.Dispose()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BEF4F-7A04-496A-A9AF-8307C21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244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Windows標準機能のみ。OpenSSLの追加導入は不要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5C4812-8CF0-4841-9D2E-BAABE43D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97536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D2EDD-2D40-48E6-8D92-BA4140A4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95975"/>
            <a:ext cx="925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確認：0-9とa-fだけの64文字。Web上のランダム生成サイトは使用しない。</a:t>
            </a:r>
          </a:p>
        </p:txBody>
      </p:sp>
    </p:spTree>
    <p:extLst>
      <p:ext uri="{BB962C8B-B14F-4D97-AF65-F5344CB8AC3E}">
        <p14:creationId xmlns:p14="http://schemas.microsoft.com/office/powerpoint/2010/main" val="15233348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AB7018-A651-4A0A-AF6F-AC4F8A02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E84FF-8C99-43CC-8988-B924CBB2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14  認証キー設定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89282-33F3-4753-9EBC-4F100F2B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生成したDEVICE_KEYを2か所へ同じ値で設定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F5674-BB45-471F-9679-DBE4DC52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Google側と端末側が1文字でも違うと認証できません。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07352-08C7-49C9-92CD-69C40341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5AB92-162F-4E02-8826-EE391935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17BD2-7F3B-410C-8C1D-218C27E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8E45F-5C1E-4407-8D42-9B8880B8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BB8D3-B09C-4F46-80FF-2501F97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ED9D-0BB0-4E36-BAC5-68137BB1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B73C4-3DD1-4C86-8A23-6C5CDB8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生成結果を確認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FA6D0-5223-4F32-A2F4-48B782B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C76C9-9F8C-4E97-A284-31826A0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21CF6-6990-41F1-9E51-765377A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Google側へ保存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1DF7A-9547-4558-AFE9-88D741B8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DD9720-C988-4CFA-96B6-4A9677A9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E7D41-B3FB-4464-B6B7-CDAE6B82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端末側へ保存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0432-5952-4418-A370-0D436FB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8765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67ADD-11C6-4DB2-B42D-B62EDDAB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2417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64 hex characters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EBCAC5-B2E4-4D4E-BE0D-5B25D67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前ページで生成した64文字が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このシステムのDEVICE_KEY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28DC3-4E39-4A6D-8003-2CCA2B36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例：a8f3…9c21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DB6AB-EE73-470C-8AF6-61D274D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プロジェクトの設定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FA256-293C-4F93-8BE0-885671FD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551025-5523-40EF-A0EB-2168FF08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9B7D6-1DF4-4729-8296-19DD2B85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180AE-8745-46F0-AFC9-9484C3B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57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生成した64文字を貼り付け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D8CA6-D600-431B-9D02-9F4AA225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2781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platformio/include/secrets.h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A0480-E1B5-465C-A51E-4106476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INVENTORY_DEVICE_KEY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07C49-D78B-4016-AEB6-291E593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B230BD-207E-47D8-AF09-26BEC8D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95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"同じ64文字"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A598E-284F-4803-BA42-254D391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6113F1-3E62-44CD-BF3C-86198481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3C824E-5CE7-4AA6-A2D8-C92E7CD0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19700"/>
            <a:ext cx="97536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0152D4-C827-403F-97F2-DC6D622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62575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確認方法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80B2D-6618-4D14-9953-852E787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798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82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設定画面とsecrets.hで先頭4文字・末尾4文字を照合。UNAUTHORIZEDなら不一致、SAVEDなら認証と保存確認まで成功。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259869-4203-46B1-9BF8-F54232C0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24525"/>
            <a:ext cx="798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キー全体をチャット・README・動画へ貼らない</a:t>
            </a:r>
          </a:p>
        </p:txBody>
      </p:sp>
    </p:spTree>
    <p:extLst>
      <p:ext uri="{BB962C8B-B14F-4D97-AF65-F5344CB8AC3E}">
        <p14:creationId xmlns:p14="http://schemas.microsoft.com/office/powerpoint/2010/main" val="11467968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5018A-B3D2-4BB8-B06B-EC625E7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CDDFB-FD27-42E6-88B9-653C1B60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15  Webアプリ公開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71181-5DE6-4E50-BE56-1E58BB41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ScriptをWebアプリとしてデプロイ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F80B2-DEAF-483E-8AA0-4294BC4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AtomS3またはStickS3が送信する /exec URLを発行します。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B64ED-9DC2-4D80-81C0-1E4820D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87A7D-EF5E-4C9D-842B-13F9E90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88E669-7987-4CA6-A21C-E50BF2D0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B6FB-A4A3-47F4-A82F-B7494A6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3D57-1ABE-4505-9B6E-CCE3734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66750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D4A43-F36F-4965-993F-8FBA422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新しいデプロイ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A12E6-25C6-4AE7-8433-8C8B308B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863E0-505E-4FD6-BB6B-8F63355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289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CBC0A-43F4-4D73-9393-1F65DB2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ウェブアプリ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3CB03-E727-4785-B802-42D662F2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次のユーザーとして実行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64902-5525-43AA-9341-E922CF8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5E845F-3B8E-43F3-AECB-FE30D863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自分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9685D-8D42-4189-A1C2-3B7E1C8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アクセスできるユーザー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0D64C-F162-417B-9B21-64D0E7D8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910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E78A35-15E4-446F-A209-1ED42380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957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C9939-50BB-49DE-B021-8081FACA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3885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7D9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04C41-161D-472F-AF64-D36661DD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816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https://script.google.com/macros/s/…/exec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32154-8F8F-4A95-8DE1-FC4B3D8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09750"/>
            <a:ext cx="39814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804AB-C5F1-49B3-9487-3C08B63C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発行後に確認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84A6C-6C2C-49B7-B816-467DAD9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C13BA3-C841-41E2-819E-8B758085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43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/exec で終わるURLを控える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494C92-076E-4A99-A3B2-449EC827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861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610C5-E367-46A7-B842-3C4DEB3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05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secrets.h の ENDPOINTへ貼る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FACD8-585B-4D6F-B9EB-2E7FFE0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FC0C0-AAC5-4742-B882-7B0D8DF0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671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ブラウザで開き死活応答を確認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3E47B-1D55-4C01-8807-510F1F1B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10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AEBB4-51E5-4352-B9C0-A55FBAE4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コード変更後は新バージョンへ更新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C7DC8-9965-4607-93E1-36C8764A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05400"/>
            <a:ext cx="34671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30E74-EBE9-49C1-A67C-17C55FB8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Sheets自体は非公開のままで利用可能</a:t>
            </a:r>
          </a:p>
        </p:txBody>
      </p:sp>
    </p:spTree>
    <p:extLst>
      <p:ext uri="{BB962C8B-B14F-4D97-AF65-F5344CB8AC3E}">
        <p14:creationId xmlns:p14="http://schemas.microsoft.com/office/powerpoint/2010/main" val="2493006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E9DFE-041D-465B-9571-4BD062B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A25DE-E358-4D4E-856A-44700B44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16  端末設定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2C9C7-1130-40C7-89BC-362C48C0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secrets.hにWi-Fi・送信先・証明書を設定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9D4FD-6C02-4274-8F0E-0305ED5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AtomS3とStickS3で同じ設定ファイルを使用します。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A224F-155C-4773-9006-83477262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02DCA-AF78-4AF1-A61A-3B0D2C7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10E78-73AE-49AE-9C27-61B297E9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BD30-C33E-4667-957F-5D6400D8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1C07E-F802-449E-9A58-E8A2559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9913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E1732-D798-46B9-8FB4-11E296D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7DFE7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7DFE7"/>
                </a:solidFill>
                <a:latin typeface="Menlo"/>
                <a:ea typeface="Menlo"/>
                <a:cs typeface="Menlo"/>
              </a:rPr>
              <a:t>platformio/include/secrets.h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2CF67-238F-4CB3-A272-728170B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47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INVENTORY_WIFI_SSID "2.4GHz Wi-FiのSSID"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INVENTORY_WIFI_PASSWORD "Wi-Fiパスワード"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INVENTORY_ENDPOINT "https://script.google.com/macros/s/.../exec"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INVENTORY_DEVICE_KEY "Google側と同じDEVICE_KEY"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static const char INVENTORY_ROOT_CA[] = R"PEM(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-----BEGIN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... 証明書本文 ...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-----END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)PEM";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52664-6B77-4471-9A79-6E51E29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#ifndef INVENTORY_CAPTURE_ONLY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#define INVENTORY_CAPTURE_ONLY true  // 初回確認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#endif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8BB73-8C0C-41C4-85D5-0F09C55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38825"/>
            <a:ext cx="6477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既存の#ifndef〜#endifを残す。送信時は *-send-check を選択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6B7A1-C532-489A-8AA0-C05708E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82644-958B-42FE-A148-F191145C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3AA22-D4DC-43F9-B52B-CE61C8F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95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SSID / PASSWORD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C08D3-B284-4B54-820C-E7C63627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2.4GHz Wi-Fiの接続情報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6D286-C3A2-4F8D-8BC7-04AC3C05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484BE-3BB4-41A5-A2CD-0371AD81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1187D-D179-4A96-8AE2-31D4930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908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0A7B5"/>
                </a:solidFill>
                <a:latin typeface="Menlo"/>
                <a:ea typeface="Menlo"/>
                <a:cs typeface="Menlo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C41FD-8AA3-4FD8-9948-9E727A8F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手順12で発行した /exec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5E003-5F19-485C-A8E5-9EE28766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C0D768-9CC2-41DC-B211-6D32FF12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4C27E-1BA5-4D09-9BB6-CC41E4E5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861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74CE4-4C6A-4A83-B8E5-D6A4A49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Google側と完全一致させる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67559-BE4D-4599-B148-296BEC2F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7528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B3C40-0D15-4AAE-8908-2A8A27E8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D63C5E-31DF-413B-9DF2-5836B62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815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B36A00"/>
                </a:solidFill>
                <a:latin typeface="Menlo"/>
                <a:ea typeface="Menlo"/>
                <a:cs typeface="Menlo"/>
              </a:rPr>
              <a:t>ROOT_CA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0D0A4F-08FE-4257-B9DB-0E65A83E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57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script.google.com 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script.googleusercontent.com を検証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D3312-7660-4BCF-8F0D-7C354F7B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BEGIN/ENDを含むPEM全文を貼り付けます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0067B3-4F05-424F-A9F4-C278EFB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62600"/>
            <a:ext cx="37528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9B62E5-A79D-4484-99A8-7EB7AE7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673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secrets.hはGitへ登録・共有しない</a:t>
            </a:r>
          </a:p>
        </p:txBody>
      </p:sp>
    </p:spTree>
    <p:extLst>
      <p:ext uri="{BB962C8B-B14F-4D97-AF65-F5344CB8AC3E}">
        <p14:creationId xmlns:p14="http://schemas.microsoft.com/office/powerpoint/2010/main" val="15867645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F229C-8C3C-4AEE-B95E-0B853CDD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76BF6-AC0B-4789-856C-3CC3309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17  TLS証明書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EF142-21F0-4F70-9CDC-787E4671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ROOT_CAは現在の証明書チェーンを確認して設定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18584-C20E-45C7-A793-FFD3CD63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サーバー証明書を固定せず、信頼済みルートCAを照合します。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E9A9A-3D2E-4480-A079-EEBB5151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1BD5E-8B33-4A7E-8FDB-6CA57A38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5B9E8-3F1A-4D52-8D6E-D7E35875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9D01-D454-499F-82A8-FCFB2CF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1A91-29D6-4C3B-845F-5A10911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0675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AAEF7-8549-40FE-B3A4-A4ECCFF7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1  両ホストのチェーンを確認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AC8F8-CA4F-4AC7-AFE0-2C890196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65341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script.google.com -showcerts &lt;/dev/null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script.googleusercontent.com:443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script.googleusercontent.com -showcerts &lt;/dev/null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A2DB1-1DE4-4F75-82EF-8DC752C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Issuerをたどり、ルートCAを照合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2EB6B-6AF9-4893-9546-F2597442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OSの信頼済みCAストア、または pki.goog/repository/ 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名称・有効期限・SHA-256フィンガープリントを確認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55228-48AB-444B-AA79-47BD2457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09750"/>
            <a:ext cx="3676650" cy="3943350"/>
          </a:xfrm>
          <a:prstGeom xmlns:a="http://schemas.openxmlformats.org/drawingml/2006/main" prst="roundRect">
            <a:avLst>
              <a:gd name="adj" fmla="val 46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744E2-A098-4AB6-8389-5640C692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CF6A5-025A-4542-A956-4678D8C1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ルートCAをPEMで取得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6D5F-935E-4DEF-8209-6D9520C1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146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3D31E-337B-4B6E-9AFD-EFE9CE40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BEGIN / ENDを含めて連結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73345-858C-44D3-ABFA-8AB7AB01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F2688-AAE7-40CD-B3C0-61ABF32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52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INVENTORY_ROOT_CAへ貼付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5A9BF-2528-479B-B06D-4497AF3D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1FDF2-F2D9-412E-B25B-3A7D367B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719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実機ログでTLS成功を確認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B0801C-EEB0-423B-AD8D-244C6EBB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3FA6-C875-43F3-AF12-572488C7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期限・Issuer変更時に更新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FEC6F-D819-4FCA-A5D5-FDD7540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57800"/>
            <a:ext cx="325755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F5B94-4B63-4B4D-83D9-515B879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setInsecure() は使用しない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8EB99-F736-48D7-86D2-1AF90345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証明書チェーンは更新されるため、公開資料へ特定の古いルート名を固定しません。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1234174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2C631-1A87-4056-8CDF-DCCF7042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33BC7-A9CF-4C03-83F9-3BA18A9A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18  ビルド・書込み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8A2BF-ACF5-4ABA-A1C5-FB2F8BD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接続中の端末に対応する環境を選ぶ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ECF64-D48A-40D9-BEAE-A755E279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AtomS3とStickS3の書込みコマンドを取り違えないよう、どちらか一方だけを実行します。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3F25-EC4C-48F8-A1E2-17B7B28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5AABA-1CEA-4CF7-BBE2-64B85D07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940CE-EBF1-4936-8FCB-C006E41B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69E8E-249A-4E67-99F0-72AFA1CC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42659-BA41-4154-ADF1-6AF7BF3F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80085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206D8-646E-45DC-9CE0-705EDF1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リポジトリ直下から実行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46E22-1DB0-4089-B95F-8D7D02D1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273C9-C9EA-4C94-BE2A-12274243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BAB5E-D8F0-40A7-8406-5061E48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AtomS3を接続した場合 — この1行だけ実行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CFB8B-4ED2-41EC-BCA3-C7CC801C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atoms3-send-check -t 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56D8D-D266-49CF-8BB5-69DF423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CF054-0956-4683-AF18-F12CD37D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StickS3を接続した場合 — この1行だけ実行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C51A0-5EE3-4803-8FB4-5B26D137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sticks3-send-check -t upload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E06DA-8D59-46C2-9C5B-4C35404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device monitor -b 115200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CB7CC-7E35-4C24-83D6-42C45942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複数デバイス接続時は --upload-port で対象を明示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72B815-58D9-4B41-A060-680DF44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9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主要な固定バージョン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54D30-2A1A-429E-AE52-40CFFC0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espressif32: AtomS3 6.9.0 / StickS3 6.12.0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M5Unified 0.2.22 / M5GFX 0.2.29 / M5UnitQRCode 1.0.1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793E-16C5-4D2E-9515-43D46F2B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394335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FD13C7-C18D-4456-8553-4344E6E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38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実機で確認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05B2B-E12D-41DA-B4F9-D2BB9F35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8041E1-EF07-4F69-9CE2-8FC9FD7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 ON / READY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66B78-036E-4D96-B11B-F206AD9C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395C6-529B-4442-BFAF-CDDCC333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623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TRIGを押して1件読取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74EF3E-4D77-42B4-BCA0-2D906A64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5DEE1-17F3-456A-A42D-D9DEA026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147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未確認分はUNSENTで確認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84C89-5BDA-479B-B988-02BDBD00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0AC0E8-2FED-4156-BFCE-D611056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672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 / READY FOR NEXT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0444EA-788D-4C0C-A6AF-C84CD8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00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0F7CB-6191-4F3C-8149-37498A85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196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全件完了：ALL SAVED / UNSENT 0</a:t>
            </a:r>
          </a:p>
        </p:txBody>
      </p:sp>
    </p:spTree>
    <p:extLst>
      <p:ext uri="{BB962C8B-B14F-4D97-AF65-F5344CB8AC3E}">
        <p14:creationId xmlns:p14="http://schemas.microsoft.com/office/powerpoint/2010/main" val="918760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51520-9F73-476E-940E-FEA75CF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1178D-5912-4DE6-A162-9B17BE83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19  受入試験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27A6D-8D61-4CFB-BCE8-A300C87E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保存・再送・復旧をテスト用シートで確認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3686E-D95A-4201-BF57-99FC04AD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実在庫へ接続する前に、同一イベントが二重加算されないことを検証します。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632FD-C273-4AD4-8A63-A0535921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F6535-8063-4DE9-8223-BDABC603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1280F-7FF7-43D6-9501-140BCD84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B2A90-724A-417F-8D35-D057EBF6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AE04-10D0-4E90-BBE7-A2A5B419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45720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74F3A-5B3D-4A50-8425-21CD691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自動確認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C2F5A-2658-4AEE-A53F-E0BB908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0005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node --test tests/ingest.test.cjs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tools/display-simulator/tests/run_tests.py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atoms3-send-check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sticks3-send-check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E1E3C-6FBB-49C0-B766-58D4B820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追加試験：端末キュー・進捗・表示競合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47E7A-9371-4F12-AF26-9943BBFA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90700"/>
            <a:ext cx="61722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6DC0F-3C31-4E87-A69A-89966FB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38350"/>
            <a:ext cx="567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実機シナリオ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50D72-0ECA-4481-9220-B81D6BE8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4D7EB-D957-43F1-BDEF-FB11809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新規ID・新規コード → 数量1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A9B5-BD3A-4294-B84C-626E36B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384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735BB-7F6F-42DF-86C5-F6B3A26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575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同じevent_idを再送 → 数量1のまま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89446-888A-4B1F-A64A-0200142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DE921-01DA-4BD5-B5D9-D83A36E0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新しいID・同じコード → 数量2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5FCF3-1959-464A-9B71-50E59DE6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100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5943F-5CF9-42C7-A520-0B4B359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Wi-Fi断・再起動後も未送信を保持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F21B2-A449-4E34-B9CE-EAA5E169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495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8BFAF-5815-4E5A-873D-B5BB14E1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再送中に追加。分母固定・FIFO順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1F51BB-F2EC-46A3-A63E-140021A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81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7EFD3-F702-4DB4-96E5-F85FB6F7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006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16件満杯の拒否と、空き後の再読取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42B061-0AEB-4109-9FA9-19FC2E3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100965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C7D37-1261-4608-A633-6CD903E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029325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合格条件：IDとコードの読戻し一致、保存件数・未送信数・全件完了がシナリオと一致</a:t>
            </a:r>
          </a:p>
        </p:txBody>
      </p:sp>
    </p:spTree>
    <p:extLst>
      <p:ext uri="{BB962C8B-B14F-4D97-AF65-F5344CB8AC3E}">
        <p14:creationId xmlns:p14="http://schemas.microsoft.com/office/powerpoint/2010/main" val="17685074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DB664-3AE4-42E9-A9ED-936C95DB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383B7-3D64-46F4-A7FB-9F7AB6B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20  保守・制約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DFB4-63DB-40F2-996D-0CDAD836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異常時の確認順と運用上の境界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24F1F-7BFE-4EED-8A92-2214A36C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履歴を直接削除せず、目的に応じて管理機能を使います。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8E28C-6F59-4C72-A739-3DDF2251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01E8E-10BF-4842-8AC6-995D63DD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0CFE3-88B5-4469-A9B4-35C46B30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8BF64-F467-4684-97DD-9A825C04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27DDD-5B12-4BE6-ACB6-CF91ACF2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104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65764-A927-480F-8A8D-62D8C1CE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よくある症状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D78B7-3AD6-43B0-869F-D137124F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16EED-821A-4099-932E-1E44D7B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C63D4A"/>
                </a:solidFill>
                <a:latin typeface="Menlo"/>
                <a:ea typeface="Menlo"/>
                <a:cs typeface="Menlo"/>
              </a:rPr>
              <a:t>UNAUTHORIZED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CE812-24A5-4496-81A6-B74E18A9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62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Google側と端末側のDEVICE_KEYを照合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5FA34-F218-46AF-91C7-8E00558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C81CB-28DB-4E9F-A374-33E83184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UNSENTが減らない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3E333-CFFA-4114-8D9E-969A677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956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Wi-Fi・ROOT_CA・/exec URL・実行履歴を確認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49F4-680B-4EB8-842B-1127E70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35EE2-7820-42F5-86FC-DEC522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STORAGE FULL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4BAAA-07B9-46A0-8AE1-69207CE6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290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空きができてから、未受付のコードを再読取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E9612-AE8F-4D7E-8482-3F139D5F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8226B-C1CB-4031-9BC8-7E78932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製品名や画像が空欄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584F-8356-435F-91BE-851AC8C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624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ProductMasterのB〜D列と公式SKUページを確認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77382-461B-4823-AE2D-5A57F12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B1797-585A-4EAC-A4D4-05325811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変更が反映されない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21FF3-FED2-4518-986E-4F2B474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958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Webアプリを新しいバージョンへ更新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FA633C-396A-4CB7-A298-9C2367AE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62421F-CD44-4D6C-9CEA-43823DCD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LOCAL STORAGE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85E8B-92A9-4F81-868A-E6015D1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29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端末内保存に失敗。端末・設定の状態を確認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1C823-AB8E-412A-9EA0-45B2DFE1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3638550" cy="4038600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58681-114D-4EE8-AF35-3CAF42B1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データの扱い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FB64CF-FAEE-426D-9FD2-95E959AB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000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RESET INVENTORY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022F7-EE0C-44AC-9DCC-0F8D2D2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ScansとInventoryを初期化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ProductMasterは保持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7463AD-1295-4DF7-B114-F91D9F0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00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FULL 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28DBE8-FE7C-4FA6-ABBD-EABD48A7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3シートすべてを初期化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確認語「完全初期化」が必要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53D67F-10BF-456D-B7CA-1AC60C80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566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C692E2-9A20-447C-920D-5EF39E4B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43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数量・数式・Scansの既存行は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直接編集・削除しない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5DD80F-CA73-491B-9E5D-C683538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端末の状態表示、Scansの保存履歴、Inventoryの集計結果をそれぞれ確認します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D53C1-3775-4E98-A4BF-2107AF3F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制約：個人・少量データ向け / 履歴全体で重複確認 / Workspace匿名公開・クォータ要確認</a:t>
            </a:r>
          </a:p>
        </p:txBody>
      </p:sp>
    </p:spTree>
    <p:extLst>
      <p:ext uri="{BB962C8B-B14F-4D97-AF65-F5344CB8AC3E}">
        <p14:creationId xmlns:p14="http://schemas.microsoft.com/office/powerpoint/2010/main" val="810551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A446D-DF24-4377-9C4A-25ECF018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959D1-57F3-4CDD-A5DF-A253CEC8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付録  StickS3画面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FC0C3-8DA0-4A28-8E7B-8B229D9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StickS3の未送信数と再送進捗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D2F71-935E-4E47-9395-5ED2B91A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Wi-Fiの右に残量％。UNSENTを独立表示し、コードと進捗を同時に確認できます。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07BA0-4AED-44B4-98FD-704EA67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596AD-2B0D-45EF-9A0D-4916B2D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0470E-3FAD-47C7-B981-01092B63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8E1AA-22CE-4163-937E-7D927568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7B4D5-141A-42E7-92A2-11B2FA3A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89f2fe504cc5"/>
          <a:stretch xmlns:a="http://schemas.openxmlformats.org/drawingml/2006/main"/>
        </p:blipFill>
        <p:spPr>
          <a:xfrm xmlns:a="http://schemas.openxmlformats.org/drawingml/2006/main">
            <a:off x="7810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8D15F-CF95-41DB-AFA7-8BA292FB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61388-F81B-4552-B9B1-41591386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2/5 SAVEDは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今回の5件中2件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追加分は次の対象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851C7-19B5-49F7-AE38-9D6F565F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219d198a24611"/>
          <a:stretch xmlns:a="http://schemas.openxmlformats.org/drawingml/2006/main"/>
        </p:blipFill>
        <p:spPr>
          <a:xfrm xmlns:a="http://schemas.openxmlformats.org/drawingml/2006/main">
            <a:off x="45148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2EBEB-BD15-4332-89ED-1E1C4E18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0A21F-BB65-4312-B55F-519C0B3F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端末の未確認0件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次のTRIGですぐ読取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READYへ戻る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1665D-D093-457F-945A-73015EBA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a867aeb854aa1"/>
          <a:stretch xmlns:a="http://schemas.openxmlformats.org/drawingml/2006/main"/>
        </p:blipFill>
        <p:spPr>
          <a:xfrm xmlns:a="http://schemas.openxmlformats.org/drawingml/2006/main">
            <a:off x="82486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06253-50CB-45C8-8226-F365A712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EC520-0FCA-46BE-85B2-4D365622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16件保持中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今回分は未受付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空き後に再スキャン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0EE9D-C345-41EC-9798-C7E2F8C1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938B5-6598-4502-9245-A9B54917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36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新しい読取りの表示を優先します。電池82%は例。取得できない場合は --% と表示します。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SAVEDは対象1件のScans保存確認。Inventoryの表示・製品名・画像更新とは別です。</a:t>
            </a:r>
          </a:p>
        </p:txBody>
      </p:sp>
    </p:spTree>
    <p:extLst>
      <p:ext uri="{BB962C8B-B14F-4D97-AF65-F5344CB8AC3E}">
        <p14:creationId xmlns:p14="http://schemas.microsoft.com/office/powerpoint/2010/main" val="1338000452"/>
      </p:ext>
    </p:extLst>
  </p:cSld>
</p:sld>
</file>

<file path=ppt/theme/theme1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2026-09-26T04:23:57.5590000Z</dcterms:created>
  <dcterms:modified xsi:type="dcterms:W3CDTF">2026-09-26T04:23:57.5590000Z</dcterms:modified>
</coreProperties>
</file>